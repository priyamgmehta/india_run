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5" d="100"/>
          <a:sy n="95" d="100"/>
        </p:scale>
        <p:origin x="20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3849"/>
            <a:ext cx="7772400" cy="1359053"/>
          </a:xfrm>
        </p:spPr>
        <p:txBody>
          <a:bodyPr>
            <a:normAutofit fontScale="90000"/>
          </a:bodyPr>
          <a:lstStyle/>
          <a:p>
            <a:r>
              <a:rPr dirty="0"/>
              <a:t>Talent OS: AI-Powered Talent Intelligence</a:t>
            </a:r>
          </a:p>
        </p:txBody>
      </p:sp>
      <p:sp>
        <p:nvSpPr>
          <p:cNvPr id="3" name="Subtitle 2"/>
          <p:cNvSpPr>
            <a:spLocks noGrp="1"/>
          </p:cNvSpPr>
          <p:nvPr>
            <p:ph type="subTitle" idx="1"/>
          </p:nvPr>
        </p:nvSpPr>
        <p:spPr>
          <a:xfrm>
            <a:off x="1371600" y="2519624"/>
            <a:ext cx="6400800" cy="3348613"/>
          </a:xfrm>
        </p:spPr>
        <p:txBody>
          <a:bodyPr>
            <a:normAutofit fontScale="77500" lnSpcReduction="20000"/>
          </a:bodyPr>
          <a:lstStyle/>
          <a:p>
            <a:r>
              <a:rPr dirty="0"/>
              <a:t>Team Name: Neural Nexus (or Your Team Name)</a:t>
            </a:r>
          </a:p>
          <a:p>
            <a:r>
              <a:rPr dirty="0"/>
              <a:t>Team Leader Name: Priyam</a:t>
            </a:r>
          </a:p>
          <a:p>
            <a:endParaRPr dirty="0"/>
          </a:p>
          <a:p>
            <a:r>
              <a:rPr dirty="0"/>
              <a:t>Problem Statement: ATS systems act as static repositories, forcing recruiters to manually parse unstructured data. This leads to missed 'hidden talent', bias, and an inability to objectively benchmark candidates against dynamic JDs and market standards.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Solution Overview</a:t>
            </a:r>
          </a:p>
        </p:txBody>
      </p:sp>
      <p:sp>
        <p:nvSpPr>
          <p:cNvPr id="3" name="Content Placeholder 2"/>
          <p:cNvSpPr>
            <a:spLocks noGrp="1"/>
          </p:cNvSpPr>
          <p:nvPr>
            <p:ph idx="1"/>
          </p:nvPr>
        </p:nvSpPr>
        <p:spPr/>
        <p:txBody>
          <a:bodyPr/>
          <a:lstStyle/>
          <a:p>
            <a:endParaRPr/>
          </a:p>
          <a:p>
            <a:pPr>
              <a:spcAft>
                <a:spcPts val="1200"/>
              </a:spcAft>
              <a:defRPr sz="1800"/>
            </a:pPr>
            <a:r>
              <a:t>Proposed Solution: 'Talent OS' - an enterprise-grade AI Talent Intelligence Platform built with Python and Streamlit.</a:t>
            </a:r>
          </a:p>
          <a:p>
            <a:pPr>
              <a:spcAft>
                <a:spcPts val="1200"/>
              </a:spcAft>
              <a:defRPr sz="1800"/>
            </a:pPr>
            <a:r>
              <a:t>It actively scores, segments, and benchmarks candidates via an interactive dashboard.</a:t>
            </a:r>
          </a:p>
          <a:p>
            <a:pPr>
              <a:spcAft>
                <a:spcPts val="1200"/>
              </a:spcAft>
              <a:defRPr sz="1800"/>
            </a:pPr>
            <a:r>
              <a:t>Differentiation: Instead of standard keyword search, Talent OS uses a multi-faceted evaluation engine.</a:t>
            </a:r>
          </a:p>
          <a:p>
            <a:pPr>
              <a:spcAft>
                <a:spcPts val="1200"/>
              </a:spcAft>
              <a:defRPr sz="1800"/>
            </a:pPr>
            <a:r>
              <a:t>It computes 'Learning Velocity', 'Market Value Prediction', and 'Hidden Talent' synergy via semantic embedding models.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JD Understanding &amp; Candidate Evaluation</a:t>
            </a:r>
          </a:p>
        </p:txBody>
      </p:sp>
      <p:sp>
        <p:nvSpPr>
          <p:cNvPr id="3" name="Content Placeholder 2"/>
          <p:cNvSpPr>
            <a:spLocks noGrp="1"/>
          </p:cNvSpPr>
          <p:nvPr>
            <p:ph idx="1"/>
          </p:nvPr>
        </p:nvSpPr>
        <p:spPr/>
        <p:txBody>
          <a:bodyPr/>
          <a:lstStyle/>
          <a:p>
            <a:endParaRPr/>
          </a:p>
          <a:p>
            <a:pPr>
              <a:spcAft>
                <a:spcPts val="1200"/>
              </a:spcAft>
              <a:defRPr sz="1800"/>
            </a:pPr>
            <a:r>
              <a:t>Key Requirements Extracted: Core technical skills, required experience level, and nuanced contextual requirements from the JD.</a:t>
            </a:r>
          </a:p>
          <a:p>
            <a:pPr>
              <a:spcAft>
                <a:spcPts val="1200"/>
              </a:spcAft>
              <a:defRPr sz="1800"/>
            </a:pPr>
            <a:r>
              <a:t>Key Candidate Signals: Career trajectory (duration, roles), skill proficiency (endorsements), education quality, and cognitive assessment scores.</a:t>
            </a:r>
          </a:p>
          <a:p>
            <a:pPr>
              <a:spcAft>
                <a:spcPts val="1200"/>
              </a:spcAft>
              <a:defRPr sz="1800"/>
            </a:pPr>
            <a:r>
              <a:t>Evaluation Beyond Keywords: We use Sentence Transformers to map the semantic intent of the JD against the candidate's holistic profile (Summary + Headline).</a:t>
            </a:r>
          </a:p>
          <a:p>
            <a:pPr>
              <a:spcAft>
                <a:spcPts val="1200"/>
              </a:spcAft>
              <a:defRPr sz="1800"/>
            </a:pPr>
            <a:r>
              <a:t>This ensures candidates who use contextual synonyms or have transferable skills aren't overlooked.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Ranking Methodology</a:t>
            </a:r>
          </a:p>
        </p:txBody>
      </p:sp>
      <p:sp>
        <p:nvSpPr>
          <p:cNvPr id="3" name="Content Placeholder 2"/>
          <p:cNvSpPr>
            <a:spLocks noGrp="1"/>
          </p:cNvSpPr>
          <p:nvPr>
            <p:ph idx="1"/>
          </p:nvPr>
        </p:nvSpPr>
        <p:spPr/>
        <p:txBody>
          <a:bodyPr/>
          <a:lstStyle/>
          <a:p>
            <a:endParaRPr/>
          </a:p>
          <a:p>
            <a:pPr>
              <a:spcAft>
                <a:spcPts val="1200"/>
              </a:spcAft>
              <a:defRPr sz="1800"/>
            </a:pPr>
            <a:r>
              <a:t>System Retrieval &amp; Scoring: Uses a composite 'Talent Score' combining semantic match, learning velocity, and market benchmarking.</a:t>
            </a:r>
          </a:p>
          <a:p>
            <a:pPr>
              <a:spcAft>
                <a:spcPts val="1200"/>
              </a:spcAft>
              <a:defRPr sz="1800"/>
            </a:pPr>
            <a:r>
              <a:t>Models &amp; Algorithms: Leveraging pre-trained NLP (HuggingFace Sentence-Transformers) for dense embedding comparisons.</a:t>
            </a:r>
          </a:p>
          <a:p>
            <a:pPr>
              <a:spcAft>
                <a:spcPts val="1200"/>
              </a:spcAft>
              <a:defRPr sz="1800"/>
            </a:pPr>
            <a:r>
              <a:t>Heuristics: Rule-based weights for skill proficiency arrays and career gap penalties.</a:t>
            </a:r>
          </a:p>
          <a:p>
            <a:pPr>
              <a:spcAft>
                <a:spcPts val="1200"/>
              </a:spcAft>
              <a:defRPr sz="1800"/>
            </a:pPr>
            <a:r>
              <a:t>Signal Combination: The final ranking is a weighted sum: 40% Semantic Match, 30% Learning Velocity, 30% Expected vs Market Salary.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Explainability &amp; Data Validation</a:t>
            </a:r>
          </a:p>
        </p:txBody>
      </p:sp>
      <p:sp>
        <p:nvSpPr>
          <p:cNvPr id="3" name="Content Placeholder 2"/>
          <p:cNvSpPr>
            <a:spLocks noGrp="1"/>
          </p:cNvSpPr>
          <p:nvPr>
            <p:ph idx="1"/>
          </p:nvPr>
        </p:nvSpPr>
        <p:spPr/>
        <p:txBody>
          <a:bodyPr/>
          <a:lstStyle/>
          <a:p>
            <a:endParaRPr/>
          </a:p>
          <a:p>
            <a:pPr>
              <a:spcAft>
                <a:spcPts val="1200"/>
              </a:spcAft>
              <a:defRPr sz="1800"/>
            </a:pPr>
            <a:r>
              <a:t>Explainability: The UI provides a 'Score Breakdown' Donut chart and explicitly lists 'AI Match Reasoning' (High/Moderate/Low Semantic Overlap).</a:t>
            </a:r>
          </a:p>
          <a:p>
            <a:pPr>
              <a:spcAft>
                <a:spcPts val="1200"/>
              </a:spcAft>
              <a:defRPr sz="1800"/>
            </a:pPr>
            <a:r>
              <a:t>Preventing Hallucinations: We do not use generative LLMs to make up facts; scoring is strictly bounded by cosine similarity and deterministic math.</a:t>
            </a:r>
          </a:p>
          <a:p>
            <a:pPr>
              <a:spcAft>
                <a:spcPts val="1200"/>
              </a:spcAft>
              <a:defRPr sz="1800"/>
            </a:pPr>
            <a:r>
              <a:t>Handling Low-Quality Profiles: The Data Cleaning pipeline (data_cleaning.py) aggressively standardizes inputs, drops invalid signals, and penalizes candidates with empty fields via the 'profile_completeness' metric.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End-to-End Workflow</a:t>
            </a:r>
          </a:p>
        </p:txBody>
      </p:sp>
      <p:sp>
        <p:nvSpPr>
          <p:cNvPr id="3" name="Content Placeholder 2"/>
          <p:cNvSpPr>
            <a:spLocks noGrp="1"/>
          </p:cNvSpPr>
          <p:nvPr>
            <p:ph idx="1"/>
          </p:nvPr>
        </p:nvSpPr>
        <p:spPr/>
        <p:txBody>
          <a:bodyPr/>
          <a:lstStyle/>
          <a:p>
            <a:endParaRPr/>
          </a:p>
          <a:p>
            <a:pPr>
              <a:spcAft>
                <a:spcPts val="1200"/>
              </a:spcAft>
              <a:defRPr sz="1800"/>
            </a:pPr>
            <a:r>
              <a:t>1. Ingestion: 'candidates_df.py' parses nested JSON candidate data.</a:t>
            </a:r>
          </a:p>
          <a:p>
            <a:pPr>
              <a:spcAft>
                <a:spcPts val="1200"/>
              </a:spcAft>
              <a:defRPr sz="1800"/>
            </a:pPr>
            <a:r>
              <a:t>2. Standardization: 'data_cleaning.py' normalizes text and handles missing values.</a:t>
            </a:r>
          </a:p>
          <a:p>
            <a:pPr>
              <a:spcAft>
                <a:spcPts val="1200"/>
              </a:spcAft>
              <a:defRPr sz="1800"/>
            </a:pPr>
            <a:r>
              <a:t>3. Engineering: 'feature_engineering.py' calculates compound metrics (e.g., tenure, skill density).</a:t>
            </a:r>
          </a:p>
          <a:p>
            <a:pPr>
              <a:spcAft>
                <a:spcPts val="1200"/>
              </a:spcAft>
              <a:defRPr sz="1800"/>
            </a:pPr>
            <a:r>
              <a:t>4. ML Scoring: User pastes a JD into the Streamlit UI.</a:t>
            </a:r>
          </a:p>
          <a:p>
            <a:pPr>
              <a:spcAft>
                <a:spcPts val="1200"/>
              </a:spcAft>
              <a:defRPr sz="1800"/>
            </a:pPr>
            <a:r>
              <a:t>5. Ranking: Candidate embeddings are compared to JD embedding.</a:t>
            </a:r>
          </a:p>
          <a:p>
            <a:pPr>
              <a:spcAft>
                <a:spcPts val="1200"/>
              </a:spcAft>
              <a:defRPr sz="1800"/>
            </a:pPr>
            <a:r>
              <a:t>6. Visualization: Output displayed on the interactive Enterprise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endParaRPr/>
          </a:p>
          <a:p>
            <a:pPr>
              <a:spcAft>
                <a:spcPts val="1200"/>
              </a:spcAft>
              <a:defRPr sz="1800"/>
            </a:pPr>
            <a:r>
              <a:t>Frontend: Streamlit (with heavily customized enterprise CSS &amp; Bento Box layouts).</a:t>
            </a:r>
          </a:p>
          <a:p>
            <a:pPr>
              <a:spcAft>
                <a:spcPts val="1200"/>
              </a:spcAft>
              <a:defRPr sz="1800"/>
            </a:pPr>
            <a:r>
              <a:t>Backend/Data Processing: Pandas &amp; NumPy for relational data merging and high-speed vectorized operations.</a:t>
            </a:r>
          </a:p>
          <a:p>
            <a:pPr>
              <a:spcAft>
                <a:spcPts val="1200"/>
              </a:spcAft>
              <a:defRPr sz="1800"/>
            </a:pPr>
            <a:r>
              <a:t>Machine Learning Layer: Scikit-learn (similarity metrics) &amp; Sentence-Transformers (NLP).</a:t>
            </a:r>
          </a:p>
          <a:p>
            <a:pPr>
              <a:spcAft>
                <a:spcPts val="1200"/>
              </a:spcAft>
              <a:defRPr sz="1800"/>
            </a:pPr>
            <a:r>
              <a:t>Data Storage: Local JSON/CSV pipeline designed for scalability to cloud storage (S3/GCS).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&amp; Performance</a:t>
            </a:r>
          </a:p>
        </p:txBody>
      </p:sp>
      <p:sp>
        <p:nvSpPr>
          <p:cNvPr id="3" name="Content Placeholder 2"/>
          <p:cNvSpPr>
            <a:spLocks noGrp="1"/>
          </p:cNvSpPr>
          <p:nvPr>
            <p:ph idx="1"/>
          </p:nvPr>
        </p:nvSpPr>
        <p:spPr/>
        <p:txBody>
          <a:bodyPr/>
          <a:lstStyle/>
          <a:p>
            <a:endParaRPr/>
          </a:p>
          <a:p>
            <a:pPr>
              <a:spcAft>
                <a:spcPts val="1200"/>
              </a:spcAft>
              <a:defRPr sz="1800"/>
            </a:pPr>
            <a:r>
              <a:t>Ranking Quality Insights: The semantic engine successfully identifies candidates with 'latent' synergies even if they lack exact JD keywords.</a:t>
            </a:r>
          </a:p>
          <a:p>
            <a:pPr>
              <a:spcAft>
                <a:spcPts val="1200"/>
              </a:spcAft>
              <a:defRPr sz="1800"/>
            </a:pPr>
            <a:r>
              <a:t>Runtime Constraints: By using lightweight embedding models and vectorized Pandas operations, the system ranks thousands of candidates in sub-second times.</a:t>
            </a:r>
          </a:p>
          <a:p>
            <a:pPr>
              <a:spcAft>
                <a:spcPts val="1200"/>
              </a:spcAft>
              <a:defRPr sz="1800"/>
            </a:pPr>
            <a:r>
              <a:t>UI Performance: Custom HTML/CSS injections maintain 60FPS rendering in the browser without requiring a heavy React/Next.js frontend.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idx="1"/>
          </p:nvPr>
        </p:nvSpPr>
        <p:spPr/>
        <p:txBody>
          <a:bodyPr/>
          <a:lstStyle/>
          <a:p>
            <a:endParaRPr/>
          </a:p>
          <a:p>
            <a:pPr>
              <a:spcAft>
                <a:spcPts val="1200"/>
              </a:spcAft>
              <a:defRPr sz="1800"/>
            </a:pPr>
            <a:r>
              <a:t>Python 3: The core language for unified data science and web deployment.</a:t>
            </a:r>
          </a:p>
          <a:p>
            <a:pPr>
              <a:spcAft>
                <a:spcPts val="1200"/>
              </a:spcAft>
              <a:defRPr sz="1800"/>
            </a:pPr>
            <a:r>
              <a:t>Pandas &amp; NumPy: Selected for robust, vectorized tabular data manipulation.</a:t>
            </a:r>
          </a:p>
          <a:p>
            <a:pPr>
              <a:spcAft>
                <a:spcPts val="1200"/>
              </a:spcAft>
              <a:defRPr sz="1800"/>
            </a:pPr>
            <a:r>
              <a:t>Streamlit: Selected for rapid prototyping of analytical web apps with pure Python.</a:t>
            </a:r>
          </a:p>
          <a:p>
            <a:pPr>
              <a:spcAft>
                <a:spcPts val="1200"/>
              </a:spcAft>
              <a:defRPr sz="1800"/>
            </a:pPr>
            <a:r>
              <a:t>Plotly: Selected for highly interactive, enterprise-grade data visualizations (Gauge &amp; Donut charts).</a:t>
            </a:r>
          </a:p>
          <a:p>
            <a:pPr>
              <a:spcAft>
                <a:spcPts val="1200"/>
              </a:spcAft>
              <a:defRPr sz="1800"/>
            </a:pPr>
            <a:r>
              <a:t>Hugging Face (Sentence-Transformers): Selected for state-of-the-art semantic matching without the latency/cost of external API calls (e.g., OpenAI).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Submission Assets</a:t>
            </a:r>
          </a:p>
        </p:txBody>
      </p:sp>
      <p:sp>
        <p:nvSpPr>
          <p:cNvPr id="3" name="Content Placeholder 2"/>
          <p:cNvSpPr>
            <a:spLocks noGrp="1"/>
          </p:cNvSpPr>
          <p:nvPr>
            <p:ph idx="1"/>
          </p:nvPr>
        </p:nvSpPr>
        <p:spPr/>
        <p:txBody>
          <a:bodyPr/>
          <a:lstStyle/>
          <a:p>
            <a:endParaRPr/>
          </a:p>
          <a:p>
            <a:pPr>
              <a:spcAft>
                <a:spcPts val="1200"/>
              </a:spcAft>
              <a:defRPr sz="1800"/>
            </a:pPr>
            <a:r>
              <a:t>GitHub Repository: [Insert Link to your repo]</a:t>
            </a:r>
          </a:p>
          <a:p>
            <a:pPr>
              <a:spcAft>
                <a:spcPts val="1200"/>
              </a:spcAft>
              <a:defRPr sz="1800"/>
            </a:pPr>
            <a:r>
              <a:t>Video Demo: [Insert Link to Demo Video]</a:t>
            </a:r>
          </a:p>
          <a:p>
            <a:pPr>
              <a:spcAft>
                <a:spcPts val="1200"/>
              </a:spcAft>
              <a:defRPr sz="1800"/>
            </a:pPr>
            <a:r>
              <a:t>Live App URL (Optional): [Insert Streamlit Cloud/Render URL]</a:t>
            </a:r>
          </a:p>
          <a:p>
            <a:pPr>
              <a:spcAft>
                <a:spcPts val="1200"/>
              </a:spcAft>
              <a:defRPr sz="1800"/>
            </a:pPr>
            <a:r>
              <a:t>Contact: [Insert your email]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TotalTime>
  <Words>759</Words>
  <Application>Microsoft Office PowerPoint</Application>
  <PresentationFormat>On-screen Show (4:3)</PresentationFormat>
  <Paragraphs>60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Talent OS: AI-Powered Talent Intelligence</vt:lpstr>
      <vt:lpstr>Solution Overview</vt:lpstr>
      <vt:lpstr>JD Understanding &amp; Candidate Evaluation</vt:lpstr>
      <vt:lpstr>Ranking Methodology</vt:lpstr>
      <vt:lpstr>Explainability &amp; Data Validation</vt:lpstr>
      <vt:lpstr>End-to-End Workflow</vt:lpstr>
      <vt:lpstr>System Architecture</vt:lpstr>
      <vt:lpstr>Results &amp; Performance</vt:lpstr>
      <vt:lpstr>Technologies Used</vt:lpstr>
      <vt:lpstr>Submission Assets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Priyam Mehta</cp:lastModifiedBy>
  <cp:revision>2</cp:revision>
  <dcterms:created xsi:type="dcterms:W3CDTF">2013-01-27T09:14:16Z</dcterms:created>
  <dcterms:modified xsi:type="dcterms:W3CDTF">2026-06-26T08:36:27Z</dcterms:modified>
  <cp:category/>
</cp:coreProperties>
</file>